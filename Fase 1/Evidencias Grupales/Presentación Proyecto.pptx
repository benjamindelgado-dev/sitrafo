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64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3E64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457200"/>
            <a:ext cx="2743200" cy="2743200"/>
          </a:xfrm>
          <a:prstGeom prst="ellipse">
            <a:avLst/>
          </a:prstGeom>
          <a:solidFill>
            <a:srgbClr val="B5651D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SITRAFO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Gestión Comercial y Productiva para Transformadores Eléctricos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B565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Proyecto APT — Fase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Delgado Bravo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/ Product Owner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4892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Olivares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4892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Milko Soto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/ Calidad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— Escuela de Informática y Telecomunicaciones, sede Puente Alto   |   Asignatura Capstone (PTY4614)   |   Semana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real de la industria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pymes fabricantes de transformadores eléctricos, la cadena comercial-productiva se gestiona con herramientas desconectadas entre sí.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377440"/>
            <a:ext cx="914400" cy="9144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6" name="Image 0" descr="ic_spread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16" y="25968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Cotizaciones en planillas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 con lo que realmente se fabrica después.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92140" y="2377440"/>
            <a:ext cx="914400" cy="9144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1" name="Image 1" descr="ic_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59689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Órdenes de compra por correo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historial de estados.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32620" y="2377440"/>
            <a:ext cx="914400" cy="9144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6" name="Image 2" descr="ic_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076" y="259689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en papel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horas hombre no quedan registrados.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sin trazabilidad entre lo cotizado y lo fabricado, costeo impreciso, y el cliente sin visibilidad del estado de su pedido.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Descripción y relevancia del proyecto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Camila Olivares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SITRAFO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único, trazable, desde el catálogo hasta el pago — con historial de estados en cada documento.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0" y="3268980"/>
            <a:ext cx="541020" cy="0"/>
          </a:xfrm>
          <a:prstGeom prst="line">
            <a:avLst/>
          </a:prstGeom>
          <a:noFill/>
          <a:ln w="25400">
            <a:solidFill>
              <a:srgbClr val="DEE2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743200"/>
            <a:ext cx="1051560" cy="1051560"/>
          </a:xfrm>
          <a:prstGeom prst="ellipse">
            <a:avLst/>
          </a:prstGeom>
          <a:solidFill>
            <a:srgbClr val="1C3A54"/>
          </a:solidFill>
          <a:ln/>
        </p:spPr>
      </p:sp>
      <p:pic>
        <p:nvPicPr>
          <p:cNvPr id="6" name="Image 0" descr="ic_catalo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006090"/>
            <a:ext cx="525780" cy="5257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7220" y="39044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1380" y="3268980"/>
            <a:ext cx="541020" cy="0"/>
          </a:xfrm>
          <a:prstGeom prst="line">
            <a:avLst/>
          </a:prstGeom>
          <a:noFill/>
          <a:ln w="25400">
            <a:solidFill>
              <a:srgbClr val="DEE2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9820" y="2743200"/>
            <a:ext cx="1051560" cy="1051560"/>
          </a:xfrm>
          <a:prstGeom prst="ellipse">
            <a:avLst/>
          </a:prstGeom>
          <a:solidFill>
            <a:srgbClr val="1C3A54"/>
          </a:solidFill>
          <a:ln/>
        </p:spPr>
      </p:sp>
      <p:pic>
        <p:nvPicPr>
          <p:cNvPr id="10" name="Image 1" descr="ic_quot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710" y="3006090"/>
            <a:ext cx="525780" cy="5257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09800" y="39044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Cotización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13960" y="3268980"/>
            <a:ext cx="541020" cy="0"/>
          </a:xfrm>
          <a:prstGeom prst="line">
            <a:avLst/>
          </a:prstGeom>
          <a:noFill/>
          <a:ln w="25400">
            <a:solidFill>
              <a:srgbClr val="DEE2E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62400" y="2743200"/>
            <a:ext cx="1051560" cy="1051560"/>
          </a:xfrm>
          <a:prstGeom prst="ellipse">
            <a:avLst/>
          </a:prstGeom>
          <a:solidFill>
            <a:srgbClr val="1C3A54"/>
          </a:solidFill>
          <a:ln/>
        </p:spPr>
      </p:sp>
      <p:pic>
        <p:nvPicPr>
          <p:cNvPr id="14" name="Image 2" descr="ic_accep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290" y="3006090"/>
            <a:ext cx="525780" cy="5257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2380" y="39044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06540" y="3268980"/>
            <a:ext cx="541020" cy="0"/>
          </a:xfrm>
          <a:prstGeom prst="line">
            <a:avLst/>
          </a:prstGeom>
          <a:noFill/>
          <a:ln w="25400">
            <a:solidFill>
              <a:srgbClr val="DEE2E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54980" y="2743200"/>
            <a:ext cx="1051560" cy="1051560"/>
          </a:xfrm>
          <a:prstGeom prst="ellipse">
            <a:avLst/>
          </a:prstGeom>
          <a:solidFill>
            <a:srgbClr val="1C3A54"/>
          </a:solidFill>
          <a:ln/>
        </p:spPr>
      </p:sp>
      <p:pic>
        <p:nvPicPr>
          <p:cNvPr id="18" name="Image 3" descr="ic_ord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7870" y="3006090"/>
            <a:ext cx="525780" cy="5257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39044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199120" y="3268980"/>
            <a:ext cx="541020" cy="0"/>
          </a:xfrm>
          <a:prstGeom prst="line">
            <a:avLst/>
          </a:prstGeom>
          <a:noFill/>
          <a:ln w="25400">
            <a:solidFill>
              <a:srgbClr val="DEE2E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47560" y="2743200"/>
            <a:ext cx="1051560" cy="1051560"/>
          </a:xfrm>
          <a:prstGeom prst="ellipse">
            <a:avLst/>
          </a:prstGeom>
          <a:solidFill>
            <a:srgbClr val="1C3A54"/>
          </a:solidFill>
          <a:ln/>
        </p:spPr>
      </p:sp>
      <p:pic>
        <p:nvPicPr>
          <p:cNvPr id="22" name="Image 4" descr="ic_wor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0450" y="3006090"/>
            <a:ext cx="525780" cy="5257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87540" y="39044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791700" y="3268980"/>
            <a:ext cx="541020" cy="0"/>
          </a:xfrm>
          <a:prstGeom prst="line">
            <a:avLst/>
          </a:prstGeom>
          <a:noFill/>
          <a:ln w="25400">
            <a:solidFill>
              <a:srgbClr val="DEE2E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740140" y="2743200"/>
            <a:ext cx="1051560" cy="1051560"/>
          </a:xfrm>
          <a:prstGeom prst="ellipse">
            <a:avLst/>
          </a:prstGeom>
          <a:solidFill>
            <a:srgbClr val="1C3A54"/>
          </a:solidFill>
          <a:ln/>
        </p:spPr>
      </p:sp>
      <p:pic>
        <p:nvPicPr>
          <p:cNvPr id="26" name="Image 5" descr="ic_quality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3030" y="3006090"/>
            <a:ext cx="525780" cy="5257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580120" y="39044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10332720" y="2743200"/>
            <a:ext cx="1051560" cy="1051560"/>
          </a:xfrm>
          <a:prstGeom prst="ellipse">
            <a:avLst/>
          </a:prstGeom>
          <a:solidFill>
            <a:srgbClr val="1C3A54"/>
          </a:solidFill>
          <a:ln/>
        </p:spPr>
      </p:sp>
      <p:pic>
        <p:nvPicPr>
          <p:cNvPr id="29" name="Image 6" descr="ic_pay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5610" y="3006090"/>
            <a:ext cx="525780" cy="5257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172700" y="39044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5166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transformador se fabrica a pedido, según especificaciones técnicas del cliente — por eso el sistema sostiene todo el ciclo, y no solo la venta.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Descripción y relevancia del proyecto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Benjamín Delgado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componentes sobre un backend común. Regla no negociable: el escritorio nunca accede directo a la base de datos.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01184" y="29718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C3A54"/>
          </a:solidFill>
          <a:ln/>
        </p:spPr>
      </p:sp>
      <p:sp>
        <p:nvSpPr>
          <p:cNvPr id="5" name="Shape 3"/>
          <p:cNvSpPr/>
          <p:nvPr/>
        </p:nvSpPr>
        <p:spPr>
          <a:xfrm>
            <a:off x="5838444" y="3177540"/>
            <a:ext cx="502920" cy="502920"/>
          </a:xfrm>
          <a:prstGeom prst="ellipse">
            <a:avLst/>
          </a:prstGeom>
          <a:solidFill>
            <a:srgbClr val="2A4A68"/>
          </a:solidFill>
          <a:ln/>
        </p:spPr>
      </p:sp>
      <p:pic>
        <p:nvPicPr>
          <p:cNvPr id="6" name="Image 0" descr="ic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145" y="32982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01184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901184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 · PostgreSQL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43000" y="2926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57400" y="3108960"/>
            <a:ext cx="640080" cy="64008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1" name="Image 1" descr="ic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019" y="3262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escritorio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 — administración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49640" y="2926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64040" y="3108960"/>
            <a:ext cx="640080" cy="64008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6" name="Image 2" descr="ic_w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659" y="3262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4108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web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64108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Bootstrap 5 + htmx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11880" y="3657600"/>
            <a:ext cx="1289304" cy="0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78624" y="3657600"/>
            <a:ext cx="1271016" cy="0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611880" y="327355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278624" y="327355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desde el escritorio, sin nunca tocar la base de datos directamente — es la app de escritorio la que "administra la web".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Benjamín Delgado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perfil de egreso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competencias de Ingeniería en Informática, aplicadas a tareas concretas del proyecto — no solo declaradas.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91740"/>
            <a:ext cx="822960" cy="8229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6" name="Image 0" descr="ic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6892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1762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proyectos informáticos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7889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SITRAFO como Product Owner, aplicando Scrum durante las 18 semanas.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491740"/>
            <a:ext cx="822960" cy="8229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1" name="Image 1" descr="ic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470" y="26892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3800" y="21762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modelos de datos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543800" y="27889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normalizado de 38 a 40 tablas.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732020"/>
            <a:ext cx="822960" cy="8229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6" name="Image 2" descr="ic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10" y="49295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4165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solución de software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50292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componentes: API REST, escritorio y web.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732020"/>
            <a:ext cx="822960" cy="8229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21" name="Image 3" descr="ic_t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470" y="49295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43800" y="44165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Realizar pruebas de certificación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543800" y="50292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unitarias, de integración y de seguridad en cada sprint.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Relación con las competencias del perfil de egreso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Benjamín Delgado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 profesionales del equipo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conecta SITRAFO con lo que quiere fortalecer profesionalmente.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C3A5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834640"/>
            <a:ext cx="2880360" cy="0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Benjamín Delgado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/ PO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soluciones sistémicas, seguridad aplicada y gestión de proyectos — practicadas al diseñar la arquitectura de tres componentes y liderar Scrum.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C3A54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834640"/>
            <a:ext cx="2880360" cy="0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Camila Olivares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63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web/móvil y gestión de proyectos para pymes — llevando procesos manuales reales hacia sistemas automatizados en la nube.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C3A54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834640"/>
            <a:ext cx="2880360" cy="0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Milko Soto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/ Calidad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063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calidad de software, aplicado al diseñar los controles de calidad, el inventario y las pruebas del sistema.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Relación con los intereses profesionales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cada integrante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semanas, herramientas gratuitas, y un equipo con experiencia previa en el stack elegido.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9659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monetario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(herramientas gratuitas)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con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definidos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9659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21305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38-40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normalizadas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3E4D3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980" y="438454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0" descr="ic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4571086"/>
            <a:ext cx="404165" cy="40416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920240" y="4114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identificados y su mitigación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452628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3 integrantes con distintas cargas académicas </a:t>
            </a: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reuniones semanales de seguimiento del tablero Scrum.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APIs externas gratuitas </a:t>
            </a: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pruebas tempranas de integración en el Sprint 3.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Factibilidad de desarrollo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Milko Soto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C3A54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" y="1417320"/>
            <a:ext cx="685800" cy="685800"/>
          </a:xfrm>
          <a:prstGeom prst="ellipse">
            <a:avLst/>
          </a:prstGeom>
          <a:solidFill>
            <a:srgbClr val="2A4A68"/>
          </a:solidFill>
          <a:ln/>
        </p:spPr>
      </p:sp>
      <p:pic>
        <p:nvPicPr>
          <p:cNvPr id="5" name="Image 0" descr="ic_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15819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3716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SITRAFO integrando catálogo, cotización, orden de compra, orden de trabajo, calidad, inventario y pago en línea, sobre tres componentes, aplicando Scrum durante 18 semanas.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6072" y="2999232"/>
            <a:ext cx="457200" cy="4572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9" name="Image 1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requerimientos, reglas de negocio y modelo de datos normalizado.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91072" y="2999232"/>
            <a:ext cx="457200" cy="4572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2" name="Image 2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089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API REST como único punto de acceso a los datos.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76072" y="3822192"/>
            <a:ext cx="457200" cy="4572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5" name="Image 3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3192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3794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aplicación de escritorio y la aplicación web.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291072" y="3822192"/>
            <a:ext cx="457200" cy="4572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8" name="Image 4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931920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58000" y="3794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5 APIs externas, incluyendo al menos 2 propias.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76072" y="4645152"/>
            <a:ext cx="457200" cy="4572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21" name="Image 5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54880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43000" y="4617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Scrum con evidencia documentada de principio a fin.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291072" y="4645152"/>
            <a:ext cx="457200" cy="4572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24" name="Image 6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754880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858000" y="4617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calidad del software y desplegarlo en producción.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Objetivos claros y coherentes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Camila Olivares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Scrum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de principio a fin, con reparto por módulo vertical para que la contribución individual sea demostrable en Git.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2103120"/>
            <a:ext cx="685800" cy="6858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6" name="Image 0" descr="ic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03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8745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4860" y="2103120"/>
            <a:ext cx="685800" cy="6858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1" name="Image 1" descr="ic_syn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103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8745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8180" y="2103120"/>
            <a:ext cx="685800" cy="68580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6" name="Image 2" descr="ic_d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2" y="22677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2103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Desarrollador / Calidad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9189720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Milko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374904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B5651D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8580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85800" y="4224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S5-S6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4617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337560" y="374904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1C3A5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47472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3474720" y="4224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S7-S9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3474720" y="4617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presupuesto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cotización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126480" y="374904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1C3A54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26364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263640" y="4224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S11-S13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6263640" y="4617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compra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 trabajo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915400" y="374904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1C3A54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05256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9052560" y="4224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S13-S14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052560" y="4617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calidad,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 integraciones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Sprint 0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Propuesta metodológica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Camila Olivares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semanas, de la definición del proyecto a la defensa ante comisión.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46531" cy="1234440"/>
          </a:xfrm>
          <a:prstGeom prst="roundRect">
            <a:avLst>
              <a:gd name="adj" fmla="val 3704"/>
            </a:avLst>
          </a:prstGeom>
          <a:solidFill>
            <a:srgbClr val="1C3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395728"/>
            <a:ext cx="2000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697480"/>
            <a:ext cx="20002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68323" y="2286000"/>
            <a:ext cx="1073265" cy="1234440"/>
          </a:xfrm>
          <a:prstGeom prst="roundRect">
            <a:avLst>
              <a:gd name="adj" fmla="val 4260"/>
            </a:avLst>
          </a:prstGeom>
          <a:solidFill>
            <a:srgbClr val="3E64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41475" y="2395728"/>
            <a:ext cx="926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841475" y="2697480"/>
            <a:ext cx="9269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14740" y="2286000"/>
            <a:ext cx="1609898" cy="1234440"/>
          </a:xfrm>
          <a:prstGeom prst="roundRect">
            <a:avLst>
              <a:gd name="adj" fmla="val 3704"/>
            </a:avLst>
          </a:prstGeom>
          <a:solidFill>
            <a:srgbClr val="3E64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87892" y="2395728"/>
            <a:ext cx="146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S7-S9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987892" y="2697480"/>
            <a:ext cx="14635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97791" y="2286000"/>
            <a:ext cx="965939" cy="1234440"/>
          </a:xfrm>
          <a:prstGeom prst="roundRect">
            <a:avLst>
              <a:gd name="adj" fmla="val 4733"/>
            </a:avLst>
          </a:prstGeom>
          <a:solidFill>
            <a:srgbClr val="B565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70943" y="2395728"/>
            <a:ext cx="8196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70943" y="2697480"/>
            <a:ext cx="8196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36881" y="2286000"/>
            <a:ext cx="1609898" cy="1234440"/>
          </a:xfrm>
          <a:prstGeom prst="roundRect">
            <a:avLst>
              <a:gd name="adj" fmla="val 3704"/>
            </a:avLst>
          </a:prstGeom>
          <a:solidFill>
            <a:srgbClr val="3E64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10033" y="2395728"/>
            <a:ext cx="146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S11-S13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10033" y="2697480"/>
            <a:ext cx="14635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19932" y="2286000"/>
            <a:ext cx="1609898" cy="1234440"/>
          </a:xfrm>
          <a:prstGeom prst="roundRect">
            <a:avLst>
              <a:gd name="adj" fmla="val 3704"/>
            </a:avLst>
          </a:prstGeom>
          <a:solidFill>
            <a:srgbClr val="3E64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93084" y="2395728"/>
            <a:ext cx="146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S13-S15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93084" y="2697480"/>
            <a:ext cx="14635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+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02982" y="2286000"/>
            <a:ext cx="1609898" cy="1234440"/>
          </a:xfrm>
          <a:prstGeom prst="roundRect">
            <a:avLst>
              <a:gd name="adj" fmla="val 3704"/>
            </a:avLst>
          </a:prstGeom>
          <a:solidFill>
            <a:srgbClr val="1C3A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76134" y="2395728"/>
            <a:ext cx="146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S16-S18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076134" y="2697480"/>
            <a:ext cx="14635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749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escritorio en desarrollo paralelo durante S11-S14.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Hitos clave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782312"/>
            <a:ext cx="109728" cy="10972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636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— Definición del proyecto (esta presentación)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4782312"/>
            <a:ext cx="109728" cy="10972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4636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 — Informe de avance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39512"/>
            <a:ext cx="109728" cy="10972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093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15 — Informe final e incremento funcional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5239512"/>
            <a:ext cx="109728" cy="10972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5093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17-18 — Defensa individual ante comisión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Plan de trabajo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Benjamín Delgado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y artefactos que dan cuenta del logro de cada actividad del proyecto.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C3A5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76272"/>
            <a:ext cx="5349240" cy="246888"/>
          </a:xfrm>
          <a:prstGeom prst="rect">
            <a:avLst/>
          </a:prstGeom>
          <a:solidFill>
            <a:srgbClr val="1C3A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93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de avance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365760" cy="3657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9" name="Image 0" descr="ic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2757830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651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ERS-01 — Especificación de requerimientos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328416"/>
            <a:ext cx="365760" cy="3657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2" name="Image 1" descr="ic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341619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33101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 — Catálogo de casos de uso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5" name="Image 2" descr="ic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407456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9684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MER-01 — Modelo entidad-relación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" y="4645152"/>
            <a:ext cx="365760" cy="3657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18" name="Image 3" descr="ic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4732934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46268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y tablero Scrum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77240" y="5303520"/>
            <a:ext cx="365760" cy="365760"/>
          </a:xfrm>
          <a:prstGeom prst="ellipse">
            <a:avLst/>
          </a:prstGeom>
          <a:solidFill>
            <a:srgbClr val="F3E4D3"/>
          </a:solidFill>
          <a:ln/>
        </p:spPr>
      </p:sp>
      <p:pic>
        <p:nvPicPr>
          <p:cNvPr id="21" name="Image 4" descr="ic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5391302"/>
            <a:ext cx="190195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2852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con commits individuales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21792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5F3"/>
          </a:solidFill>
          <a:ln w="12700">
            <a:solidFill>
              <a:srgbClr val="DEE2E1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17920" y="19202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B5651D"/>
          </a:solidFill>
          <a:ln/>
        </p:spPr>
      </p:sp>
      <p:sp>
        <p:nvSpPr>
          <p:cNvPr id="25" name="Shape 18"/>
          <p:cNvSpPr/>
          <p:nvPr/>
        </p:nvSpPr>
        <p:spPr>
          <a:xfrm>
            <a:off x="6217920" y="2176272"/>
            <a:ext cx="5349240" cy="246888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446520" y="1993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finales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446520" y="2670048"/>
            <a:ext cx="365760" cy="365760"/>
          </a:xfrm>
          <a:prstGeom prst="ellipse">
            <a:avLst/>
          </a:prstGeom>
          <a:solidFill>
            <a:srgbClr val="E4EAEF"/>
          </a:solidFill>
          <a:ln/>
        </p:spPr>
      </p:sp>
      <p:pic>
        <p:nvPicPr>
          <p:cNvPr id="28" name="Image 5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302" y="2757830"/>
            <a:ext cx="190195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49440" y="2651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funcional SITRAFO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446520" y="3328416"/>
            <a:ext cx="365760" cy="365760"/>
          </a:xfrm>
          <a:prstGeom prst="ellipse">
            <a:avLst/>
          </a:prstGeom>
          <a:solidFill>
            <a:srgbClr val="E4EAEF"/>
          </a:solidFill>
          <a:ln/>
        </p:spPr>
      </p:sp>
      <p:pic>
        <p:nvPicPr>
          <p:cNvPr id="31" name="Image 6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302" y="3416198"/>
            <a:ext cx="190195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49440" y="33101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pruebas y calidad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446520" y="3986784"/>
            <a:ext cx="365760" cy="365760"/>
          </a:xfrm>
          <a:prstGeom prst="ellipse">
            <a:avLst/>
          </a:prstGeom>
          <a:solidFill>
            <a:srgbClr val="E4EAEF"/>
          </a:solidFill>
          <a:ln/>
        </p:spPr>
      </p:sp>
      <p:pic>
        <p:nvPicPr>
          <p:cNvPr id="34" name="Image 7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302" y="4074566"/>
            <a:ext cx="190195" cy="19019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49440" y="39684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y documento de arquitectura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Evidencias justificadas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8439912" y="6473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Milko Soto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E648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00116" y="1691640"/>
            <a:ext cx="1188720" cy="1188720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4" name="Image 0" descr="ic_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1976933"/>
            <a:ext cx="618134" cy="6181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sobre la definición de SITRAFO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88636" y="4434840"/>
            <a:ext cx="2011680" cy="0"/>
          </a:xfrm>
          <a:prstGeom prst="line">
            <a:avLst/>
          </a:prstGeom>
          <a:noFill/>
          <a:ln w="31750">
            <a:solidFill>
              <a:srgbClr val="B565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Delgado Bravo   ·   Camila Olivares   ·   Milko Soto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github.com/benjamindelgado-dev/SITRAFO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1000</Words>
  <Application>Microsoft Office PowerPoint</Application>
  <PresentationFormat>Panorámica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Benja Delgado</cp:lastModifiedBy>
  <cp:revision>1</cp:revision>
  <dcterms:created xsi:type="dcterms:W3CDTF">2026-09-03T20:48:17Z</dcterms:created>
  <dcterms:modified xsi:type="dcterms:W3CDTF">2026-09-03T20:55:48Z</dcterms:modified>
</cp:coreProperties>
</file>